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henika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28600"/>
            <a:ext cx="1371600" cy="8348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0" y="6446520"/>
            <a:ext cx="1645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B0BEC5"/>
                </a:solidFill>
              </a:defRPr>
            </a:pPr>
            <a:r>
              <a:t>01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10058400" cy="3252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3200" b="1">
                <a:solidFill>
                  <a:srgbClr val="FFFFFF"/>
                </a:solidFill>
              </a:defRPr>
            </a:pPr>
            <a:r>
              <a:rPr dirty="0"/>
              <a:t>BÁO CÁO KIỂM ĐỊNH &amp; ĐÁNH GIÁ CHẤT LƯỢNG</a:t>
            </a:r>
            <a:br>
              <a:rPr dirty="0"/>
            </a:br>
            <a:r>
              <a:rPr dirty="0"/>
              <a:t>HỆ THỐNG NGÂN HÀNG SỐ MINIBANK</a:t>
            </a:r>
          </a:p>
          <a:p>
            <a:pPr>
              <a:spcAft>
                <a:spcPts val="1200"/>
              </a:spcAft>
              <a:defRPr sz="1800" b="1">
                <a:solidFill>
                  <a:srgbClr val="80D8FF"/>
                </a:solidFill>
              </a:defRPr>
            </a:pPr>
            <a:r>
              <a:rPr dirty="0" err="1"/>
              <a:t>Nhóm</a:t>
            </a:r>
            <a:r>
              <a:rPr dirty="0"/>
              <a:t> 6: </a:t>
            </a:r>
            <a:endParaRPr lang="vi-VN" dirty="0"/>
          </a:p>
          <a:p>
            <a:pPr>
              <a:spcAft>
                <a:spcPts val="1200"/>
              </a:spcAft>
              <a:defRPr sz="1800" b="1">
                <a:solidFill>
                  <a:srgbClr val="80D8FF"/>
                </a:solidFill>
              </a:defRPr>
            </a:pPr>
            <a:r>
              <a:rPr lang="vi-VN" dirty="0"/>
              <a:t>            </a:t>
            </a:r>
            <a:r>
              <a:rPr dirty="0"/>
              <a:t>Nguyễn Văn Thành (23010191)</a:t>
            </a:r>
            <a:endParaRPr lang="vi-VN" dirty="0"/>
          </a:p>
          <a:p>
            <a:pPr>
              <a:spcAft>
                <a:spcPts val="1200"/>
              </a:spcAft>
              <a:defRPr sz="1800" b="1">
                <a:solidFill>
                  <a:srgbClr val="80D8FF"/>
                </a:solidFill>
              </a:defRPr>
            </a:pPr>
            <a:r>
              <a:rPr lang="vi-VN" dirty="0"/>
              <a:t>            </a:t>
            </a:r>
            <a:r>
              <a:rPr dirty="0"/>
              <a:t>Hà Xuân </a:t>
            </a:r>
            <a:r>
              <a:rPr dirty="0" err="1"/>
              <a:t>Đại</a:t>
            </a:r>
            <a:r>
              <a:rPr dirty="0"/>
              <a:t> (23010494)</a:t>
            </a:r>
          </a:p>
          <a:p>
            <a:pPr>
              <a:spcAft>
                <a:spcPts val="1000"/>
              </a:spcAft>
              <a:defRPr sz="1600" b="1">
                <a:solidFill>
                  <a:srgbClr val="FFD54F"/>
                </a:solidFill>
              </a:defRPr>
            </a:pPr>
            <a:r>
              <a:rPr dirty="0" err="1"/>
              <a:t>Giảng</a:t>
            </a:r>
            <a:r>
              <a:rPr dirty="0"/>
              <a:t> </a:t>
            </a:r>
            <a:r>
              <a:rPr dirty="0" err="1"/>
              <a:t>viên</a:t>
            </a:r>
            <a:r>
              <a:rPr dirty="0"/>
              <a:t> </a:t>
            </a:r>
            <a:r>
              <a:rPr dirty="0" err="1"/>
              <a:t>hướng</a:t>
            </a:r>
            <a:r>
              <a:rPr dirty="0"/>
              <a:t> </a:t>
            </a:r>
            <a:r>
              <a:rPr dirty="0" err="1"/>
              <a:t>dẫn</a:t>
            </a:r>
            <a:r>
              <a:rPr dirty="0"/>
              <a:t>: TS. Trịnh Thanh Bình</a:t>
            </a:r>
          </a:p>
          <a:p>
            <a:pPr>
              <a:defRPr sz="1300">
                <a:solidFill>
                  <a:srgbClr val="CFD8DC"/>
                </a:solidFill>
              </a:defRPr>
            </a:pPr>
            <a:r>
              <a:rPr dirty="0"/>
              <a:t>Học </a:t>
            </a:r>
            <a:r>
              <a:rPr dirty="0" err="1"/>
              <a:t>kỳ</a:t>
            </a:r>
            <a:r>
              <a:rPr dirty="0"/>
              <a:t> I - </a:t>
            </a:r>
            <a:r>
              <a:rPr dirty="0" err="1"/>
              <a:t>Năm</a:t>
            </a:r>
            <a:r>
              <a:rPr dirty="0"/>
              <a:t> </a:t>
            </a:r>
            <a:r>
              <a:rPr dirty="0" err="1"/>
              <a:t>học</a:t>
            </a:r>
            <a:r>
              <a:rPr dirty="0"/>
              <a:t> 2025 - 2026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F497D"/>
                </a:solidFill>
              </a:defRPr>
            </a:pPr>
            <a:r>
              <a:t>1. Đặt Vấn Đề &amp; Mục Tiêu Kiểm Định Chất Lượng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32004"/>
          </a:xfrm>
          <a:prstGeom prst="rect">
            <a:avLst/>
          </a:prstGeom>
          <a:solidFill>
            <a:srgbClr val="00838F"/>
          </a:solidFill>
          <a:ln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henika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28600"/>
            <a:ext cx="1371600" cy="8348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0" y="6446520"/>
            <a:ext cx="1645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78909C"/>
                </a:solidFill>
              </a:defRPr>
            </a:pPr>
            <a:r>
              <a:t>02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4F6F9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E65100"/>
                </a:solidFill>
              </a:defRPr>
            </a:pPr>
            <a:r>
              <a:t>Bối Cảnh &amp; Thách Thức</a:t>
            </a:r>
          </a:p>
          <a:p>
            <a:pPr>
              <a:spcAft>
                <a:spcPts val="1000"/>
              </a:spcAft>
              <a:defRPr sz="1200">
                <a:solidFill>
                  <a:srgbClr val="333333"/>
                </a:solidFill>
              </a:defRPr>
            </a:pPr>
            <a:r>
              <a:t>• Hệ thống Fintech / Ngân hàng số yêu cầu tính chính xác tuyệt đối 100%.</a:t>
            </a:r>
          </a:p>
          <a:p>
            <a:pPr>
              <a:spcAft>
                <a:spcPts val="1000"/>
              </a:spcAft>
              <a:defRPr sz="1200">
                <a:solidFill>
                  <a:srgbClr val="333333"/>
                </a:solidFill>
              </a:defRPr>
            </a:pPr>
            <a:r>
              <a:t>• Lỗ hổng tranh chấp tài nguyên (Double-Spending) khi rút tiền đồng thời.</a:t>
            </a:r>
          </a:p>
          <a:p>
            <a:pPr>
              <a:spcAft>
                <a:spcPts val="1000"/>
              </a:spcAft>
              <a:defRPr sz="1200">
                <a:solidFill>
                  <a:srgbClr val="333333"/>
                </a:solidFill>
              </a:defRPr>
            </a:pPr>
            <a:r>
              <a:t>• Rủi ro bảo mật dữ liệu khách hàng và tấn công leo thang quyền hạn API.</a:t>
            </a:r>
          </a:p>
          <a:p>
            <a:pPr>
              <a:spcAft>
                <a:spcPts val="1000"/>
              </a:spcAft>
              <a:defRPr sz="1200">
                <a:solidFill>
                  <a:srgbClr val="333333"/>
                </a:solidFill>
              </a:defRPr>
            </a:pPr>
            <a:r>
              <a:t>• Áp lực thời gian phản hồi dưới 200ms khi phục vụ lưu lượng lớn.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4F6F9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F497D"/>
                </a:solidFill>
              </a:defRPr>
            </a:pPr>
            <a:r>
              <a:t>Mục Tiêu Kiểm Định</a:t>
            </a:r>
          </a:p>
          <a:p>
            <a:pPr>
              <a:spcAft>
                <a:spcPts val="1000"/>
              </a:spcAft>
              <a:defRPr sz="1200">
                <a:solidFill>
                  <a:srgbClr val="333333"/>
                </a:solidFill>
              </a:defRPr>
            </a:pPr>
            <a:r>
              <a:t>• Thiết lập mạng lưới kiểm thử đa tầng: White-box, Black-box, API, UI.</a:t>
            </a:r>
          </a:p>
          <a:p>
            <a:pPr>
              <a:spcAft>
                <a:spcPts val="1000"/>
              </a:spcAft>
              <a:defRPr sz="1200">
                <a:solidFill>
                  <a:srgbClr val="333333"/>
                </a:solidFill>
              </a:defRPr>
            </a:pPr>
            <a:r>
              <a:t>• Đo lường độ bao phủ mã nguồn (Code Coverage) đạt chỉ tiêu trên 85%.</a:t>
            </a:r>
          </a:p>
          <a:p>
            <a:pPr>
              <a:spcAft>
                <a:spcPts val="1000"/>
              </a:spcAft>
              <a:defRPr sz="1200">
                <a:solidFill>
                  <a:srgbClr val="333333"/>
                </a:solidFill>
              </a:defRPr>
            </a:pPr>
            <a:r>
              <a:t>• Bảo vệ an toàn dữ liệu số dư bằng cơ chế khóa bi quan (Pessimistic Lock).</a:t>
            </a:r>
          </a:p>
          <a:p>
            <a:pPr>
              <a:spcAft>
                <a:spcPts val="1000"/>
              </a:spcAft>
              <a:defRPr sz="1200">
                <a:solidFill>
                  <a:srgbClr val="333333"/>
                </a:solidFill>
              </a:defRPr>
            </a:pPr>
            <a:r>
              <a:t>• Đảm bảo 100% các ca kiểm thử tự động đều vượt qua thành công.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4F6F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2E7D32"/>
                </a:solidFill>
              </a:defRPr>
            </a:pPr>
            <a:r>
              <a:t>Kết Quả Đạt Được</a:t>
            </a:r>
          </a:p>
          <a:p>
            <a:pPr>
              <a:spcAft>
                <a:spcPts val="1000"/>
              </a:spcAft>
              <a:defRPr sz="1200">
                <a:solidFill>
                  <a:srgbClr val="333333"/>
                </a:solidFill>
              </a:defRPr>
            </a:pPr>
            <a:r>
              <a:t>• 57/57 ca kiểm thử tự động hóa Passed tuyệt đối 100%.</a:t>
            </a:r>
          </a:p>
          <a:p>
            <a:pPr>
              <a:spcAft>
                <a:spcPts val="1000"/>
              </a:spcAft>
              <a:defRPr sz="1200">
                <a:solidFill>
                  <a:srgbClr val="333333"/>
                </a:solidFill>
              </a:defRPr>
            </a:pPr>
            <a:r>
              <a:t>• Độ bao phủ JaCoCo đạt 90.3% Line Coverage và 85.6% Branch Coverage.</a:t>
            </a:r>
          </a:p>
          <a:p>
            <a:pPr>
              <a:spcAft>
                <a:spcPts val="1000"/>
              </a:spcAft>
              <a:defRPr sz="1200">
                <a:solidFill>
                  <a:srgbClr val="333333"/>
                </a:solidFill>
              </a:defRPr>
            </a:pPr>
            <a:r>
              <a:t>• Hiệu năng tải JMeter đạt 54.7 ms với tỷ lệ lỗi giao dịch hoàn hảo 0.00%.</a:t>
            </a:r>
          </a:p>
          <a:p>
            <a:pPr>
              <a:spcAft>
                <a:spcPts val="1000"/>
              </a:spcAft>
              <a:defRPr sz="1200">
                <a:solidFill>
                  <a:srgbClr val="333333"/>
                </a:solidFill>
              </a:defRPr>
            </a:pPr>
            <a:r>
              <a:t>• Phát hiện và xử lý dứt điểm 6 lỗi logic và cấu hình bảo mật.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F497D"/>
                </a:solidFill>
              </a:defRPr>
            </a:pPr>
            <a:r>
              <a:t>2. Kiến Trúc Phân Tầng Hệ Thống MiniBank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32004"/>
          </a:xfrm>
          <a:prstGeom prst="rect">
            <a:avLst/>
          </a:prstGeom>
          <a:solidFill>
            <a:srgbClr val="00838F"/>
          </a:solidFill>
          <a:ln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henika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28600"/>
            <a:ext cx="1371600" cy="8348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0" y="6446520"/>
            <a:ext cx="1645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78909C"/>
                </a:solidFill>
              </a:defRPr>
            </a:pPr>
            <a:r>
              <a:t>03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0728655" cy="960120"/>
          </a:xfrm>
          <a:prstGeom prst="roundRect">
            <a:avLst/>
          </a:prstGeom>
          <a:solidFill>
            <a:srgbClr val="F4F6F9"/>
          </a:solidFill>
          <a:ln w="25400"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09928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838F"/>
                </a:solidFill>
              </a:defRPr>
            </a:pPr>
            <a:r>
              <a:t>Tầng Giao Diện (Presentation Layer) - Next.js 16 / React 19</a:t>
            </a:r>
          </a:p>
          <a:p>
            <a:pPr>
              <a:spcBef>
                <a:spcPts val="300"/>
              </a:spcBef>
              <a:defRPr sz="1200">
                <a:solidFill>
                  <a:srgbClr val="333333"/>
                </a:solidFill>
              </a:defRPr>
            </a:pPr>
            <a:r>
              <a:t>Admin Portal hiện đại, Tailwind CSS 4, quản lý phiên qua JWT trong localStorage, kết nối REST API.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88920"/>
            <a:ext cx="10728655" cy="960120"/>
          </a:xfrm>
          <a:prstGeom prst="roundRect">
            <a:avLst/>
          </a:prstGeom>
          <a:solidFill>
            <a:srgbClr val="F4F6F9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898648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497D"/>
                </a:solidFill>
              </a:defRPr>
            </a:pPr>
            <a:r>
              <a:t>Tầng Bảo Mật &amp; Điểm Cuối (Security &amp; Controller Layer)</a:t>
            </a:r>
          </a:p>
          <a:p>
            <a:pPr>
              <a:spcBef>
                <a:spcPts val="300"/>
              </a:spcBef>
              <a:defRPr sz="1200">
                <a:solidFill>
                  <a:srgbClr val="333333"/>
                </a:solidFill>
              </a:defRPr>
            </a:pPr>
            <a:r>
              <a:t>Spring Security 6, JWT Filter xác thực Stateless, phân quyền RBAC (ADMIN, USER, COMPLIANCE).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77639"/>
            <a:ext cx="10728655" cy="960120"/>
          </a:xfrm>
          <a:prstGeom prst="roundRect">
            <a:avLst/>
          </a:prstGeom>
          <a:solidFill>
            <a:srgbClr val="F4F6F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087367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E7D32"/>
                </a:solidFill>
              </a:defRPr>
            </a:pPr>
            <a:r>
              <a:t>Tầng Nghiệp Vụ Cốt Lõi (Business Logic Service Layer)</a:t>
            </a:r>
          </a:p>
          <a:p>
            <a:pPr>
              <a:spcBef>
                <a:spcPts val="300"/>
              </a:spcBef>
              <a:defRPr sz="1200">
                <a:solidFill>
                  <a:srgbClr val="333333"/>
                </a:solidFill>
              </a:defRPr>
            </a:pPr>
            <a:r>
              <a:t>Dịch vụ tài chính: TransferService, LoanService, SavingsService, AuthService, AuditLogService.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166360"/>
            <a:ext cx="10728655" cy="960120"/>
          </a:xfrm>
          <a:prstGeom prst="roundRect">
            <a:avLst/>
          </a:prstGeom>
          <a:solidFill>
            <a:srgbClr val="F4F6F9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5276088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65100"/>
                </a:solidFill>
              </a:defRPr>
            </a:pPr>
            <a:r>
              <a:t>Tầng Dữ Liệu &amp; Lưu Trữ (Data Access &amp; Database Layer)</a:t>
            </a:r>
          </a:p>
          <a:p>
            <a:pPr>
              <a:spcBef>
                <a:spcPts val="300"/>
              </a:spcBef>
              <a:defRPr sz="1200">
                <a:solidFill>
                  <a:srgbClr val="333333"/>
                </a:solidFill>
              </a:defRPr>
            </a:pPr>
            <a:r>
              <a:t>Spring Data JPA, Khóa bi quan (Pessimistic Locking). Đa môi trường: PostgreSQL 17 (Prod) &amp; H2 (Test).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F497D"/>
                </a:solidFill>
              </a:defRPr>
            </a:pPr>
            <a:r>
              <a:t>3. Ma Trận Phương Pháp &amp; Công Cụ Kiểm Định Chất Lượng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32004"/>
          </a:xfrm>
          <a:prstGeom prst="rect">
            <a:avLst/>
          </a:prstGeom>
          <a:solidFill>
            <a:srgbClr val="00838F"/>
          </a:solidFill>
          <a:ln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henika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28600"/>
            <a:ext cx="1371600" cy="8348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0" y="6446520"/>
            <a:ext cx="1645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78909C"/>
                </a:solidFill>
              </a:defRPr>
            </a:pPr>
            <a:r>
              <a:t>04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57800" cy="1005840"/>
          </a:xfrm>
          <a:prstGeom prst="roundRect">
            <a:avLst/>
          </a:prstGeom>
          <a:solidFill>
            <a:srgbClr val="F4F6F9"/>
          </a:solidFill>
          <a:ln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F497D"/>
                </a:solidFill>
              </a:defRPr>
            </a:pPr>
            <a:r>
              <a:t>Kiểm Thử Hộp Trắng  •  JUnit 5 &amp; Mockito</a:t>
            </a:r>
          </a:p>
          <a:p>
            <a:pPr>
              <a:spcBef>
                <a:spcPts val="300"/>
              </a:spcBef>
              <a:defRPr sz="1100">
                <a:solidFill>
                  <a:srgbClr val="333333"/>
                </a:solidFill>
              </a:defRPr>
            </a:pPr>
            <a:r>
              <a:t>Đo độ phức tạp Cyclomatic V(G), kiểm thử rẽ nhánh Branch Testing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5257800" cy="1005840"/>
          </a:xfrm>
          <a:prstGeom prst="roundRect">
            <a:avLst/>
          </a:prstGeom>
          <a:solidFill>
            <a:srgbClr val="F4F6F9"/>
          </a:solidFill>
          <a:ln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09360" y="1719072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F497D"/>
                </a:solidFill>
              </a:defRPr>
            </a:pPr>
            <a:r>
              <a:t>Đo Độ Bao Phủ Mã Nguồn  •  JaCoCo Coverage</a:t>
            </a:r>
          </a:p>
          <a:p>
            <a:pPr>
              <a:spcBef>
                <a:spcPts val="300"/>
              </a:spcBef>
              <a:defRPr sz="1100">
                <a:solidFill>
                  <a:srgbClr val="333333"/>
                </a:solidFill>
              </a:defRPr>
            </a:pPr>
            <a:r>
              <a:t>Line Coverage đạt 90.3%, Branch Coverage đạt 85.6%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5257800" cy="1005840"/>
          </a:xfrm>
          <a:prstGeom prst="roundRect">
            <a:avLst/>
          </a:prstGeom>
          <a:solidFill>
            <a:srgbClr val="F4F6F9"/>
          </a:solidFill>
          <a:ln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862072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F497D"/>
                </a:solidFill>
              </a:defRPr>
            </a:pPr>
            <a:r>
              <a:t>Kiểm Thử Hộp Đen  •  EP &amp; BVA 6 Giá Trị</a:t>
            </a:r>
          </a:p>
          <a:p>
            <a:pPr>
              <a:spcBef>
                <a:spcPts val="300"/>
              </a:spcBef>
              <a:defRPr sz="1100">
                <a:solidFill>
                  <a:srgbClr val="333333"/>
                </a:solidFill>
              </a:defRPr>
            </a:pPr>
            <a:r>
              <a:t>Phân vùng tương đương &amp; Phân tích giá trị biên các hàm nghiệp vụ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788920"/>
            <a:ext cx="5257800" cy="1005840"/>
          </a:xfrm>
          <a:prstGeom prst="roundRect">
            <a:avLst/>
          </a:prstGeom>
          <a:solidFill>
            <a:srgbClr val="F4F6F9"/>
          </a:solidFill>
          <a:ln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0" y="2862072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F497D"/>
                </a:solidFill>
              </a:defRPr>
            </a:pPr>
            <a:r>
              <a:t>Kiểm Thử Tranh Chấp  •  ExecutorService Multi-thread</a:t>
            </a:r>
          </a:p>
          <a:p>
            <a:pPr>
              <a:spcBef>
                <a:spcPts val="300"/>
              </a:spcBef>
              <a:defRPr sz="1100">
                <a:solidFill>
                  <a:srgbClr val="333333"/>
                </a:solidFill>
              </a:defRPr>
            </a:pPr>
            <a:r>
              <a:t>Kiểm tra an toàn luồng, chống gian lận rút trùng Double-Spending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5257800" cy="1005840"/>
          </a:xfrm>
          <a:prstGeom prst="roundRect">
            <a:avLst/>
          </a:prstGeom>
          <a:solidFill>
            <a:srgbClr val="F4F6F9"/>
          </a:solidFill>
          <a:ln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005072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F497D"/>
                </a:solidFill>
              </a:defRPr>
            </a:pPr>
            <a:r>
              <a:t>Kiểm Thử Hiệu Năng  •  Apache JMeter</a:t>
            </a:r>
          </a:p>
          <a:p>
            <a:pPr>
              <a:spcBef>
                <a:spcPts val="300"/>
              </a:spcBef>
              <a:defRPr sz="1100">
                <a:solidFill>
                  <a:srgbClr val="333333"/>
                </a:solidFill>
              </a:defRPr>
            </a:pPr>
            <a:r>
              <a:t>Mô phỏng 50-100 người dùng ảo, 20.000 mẫu, đo thời gian đáp ứng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931920"/>
            <a:ext cx="5257800" cy="1005840"/>
          </a:xfrm>
          <a:prstGeom prst="roundRect">
            <a:avLst/>
          </a:prstGeom>
          <a:solidFill>
            <a:srgbClr val="F4F6F9"/>
          </a:solidFill>
          <a:ln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4005072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F497D"/>
                </a:solidFill>
              </a:defRPr>
            </a:pPr>
            <a:r>
              <a:t>Tự Động Hóa API  •  Postman &amp; Newman CLI</a:t>
            </a:r>
          </a:p>
          <a:p>
            <a:pPr>
              <a:spcBef>
                <a:spcPts val="300"/>
              </a:spcBef>
              <a:defRPr sz="1100">
                <a:solidFill>
                  <a:srgbClr val="333333"/>
                </a:solidFill>
              </a:defRPr>
            </a:pPr>
            <a:r>
              <a:t>10 API, 17 Assertions, kiểm thử hồi quy tự động trong CI/CD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074920"/>
            <a:ext cx="5257800" cy="1005840"/>
          </a:xfrm>
          <a:prstGeom prst="roundRect">
            <a:avLst/>
          </a:prstGeom>
          <a:solidFill>
            <a:srgbClr val="F4F6F9"/>
          </a:solidFill>
          <a:ln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5148072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F497D"/>
                </a:solidFill>
              </a:defRPr>
            </a:pPr>
            <a:r>
              <a:t>Tự Động Hóa Giao Diện  •  Selenium WebDriver &amp; IDE</a:t>
            </a:r>
          </a:p>
          <a:p>
            <a:pPr>
              <a:spcBef>
                <a:spcPts val="300"/>
              </a:spcBef>
              <a:defRPr sz="1100">
                <a:solidFill>
                  <a:srgbClr val="333333"/>
                </a:solidFill>
              </a:defRPr>
            </a:pPr>
            <a:r>
              <a:t>16 trang phân hệ Admin Portal toàn diện, Record &amp; Playback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5074920"/>
            <a:ext cx="5257800" cy="1005840"/>
          </a:xfrm>
          <a:prstGeom prst="roundRect">
            <a:avLst/>
          </a:prstGeom>
          <a:solidFill>
            <a:srgbClr val="F4F6F9"/>
          </a:solidFill>
          <a:ln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9360" y="5148072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F497D"/>
                </a:solidFill>
              </a:defRPr>
            </a:pPr>
            <a:r>
              <a:t>Đánh Giá Chuẩn Quốc Tế  •  ISO/IEC 25010 Model</a:t>
            </a:r>
          </a:p>
          <a:p>
            <a:pPr>
              <a:spcBef>
                <a:spcPts val="300"/>
              </a:spcBef>
              <a:defRPr sz="1100">
                <a:solidFill>
                  <a:srgbClr val="333333"/>
                </a:solidFill>
              </a:defRPr>
            </a:pPr>
            <a:r>
              <a:t>Đánh giá 7 đặc tính cốt lõi của sản phẩm phần mềm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F497D"/>
                </a:solidFill>
              </a:defRPr>
            </a:pPr>
            <a:r>
              <a:t>4. Kiểm Thử Hộp Trắng &amp; Độ Bao Phủ Mã Nguồn (JaCoCo)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32004"/>
          </a:xfrm>
          <a:prstGeom prst="rect">
            <a:avLst/>
          </a:prstGeom>
          <a:solidFill>
            <a:srgbClr val="00838F"/>
          </a:solidFill>
          <a:ln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henika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28600"/>
            <a:ext cx="1371600" cy="8348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0" y="6446520"/>
            <a:ext cx="1645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78909C"/>
                </a:solidFill>
              </a:defRPr>
            </a:pPr>
            <a:r>
              <a:t>05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4F6F9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F497D"/>
                </a:solidFill>
              </a:defRPr>
            </a:pPr>
            <a:r>
              <a:t>Phân Tích Độ Phức Tạp Cyclomatic V(G)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Xây dựng Đồ thị dòng điều khiển (CFG) phương thức transfer().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Công thức McCabe: V(G) = E - N + 2P = 11 - 9 + 2(1) = 4.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Thiết kế 4 ca kiểm thử độc lập bao phủ 100% nhánh rẽ (True/False):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• Path 1: Số tiền không hợp lệ (amount &lt;= 0).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• Path 2: Tài khoản nguồn không đủ số dư.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• Path 3: Không tìm thấy tài khoản đích hợp lệ.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• Path 4: Giao dịch thành công, trừ/cộng tiền và ghi nhật ký.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4F6F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2E7D32"/>
                </a:solidFill>
              </a:defRPr>
            </a:pPr>
            <a:r>
              <a:t>Kết Quả Đo Lường JaCoCo Coverage</a:t>
            </a:r>
          </a:p>
          <a:p>
            <a:pPr>
              <a:defRPr sz="1300" b="1">
                <a:solidFill>
                  <a:srgbClr val="0F243E"/>
                </a:solidFill>
              </a:defRPr>
            </a:pPr>
            <a:r>
              <a:t>Line Coverage (Độ bao phủ dòng lệnh): 90.3%</a:t>
            </a:r>
          </a:p>
          <a:p>
            <a:pPr>
              <a:spcAft>
                <a:spcPts val="800"/>
              </a:spcAft>
              <a:defRPr sz="1100">
                <a:solidFill>
                  <a:srgbClr val="757575"/>
                </a:solidFill>
              </a:defRPr>
            </a:pPr>
            <a:r>
              <a:t>  (Vượt xa chỉ tiêu tối thiểu 85%)</a:t>
            </a:r>
          </a:p>
          <a:p>
            <a:pPr>
              <a:defRPr sz="1300" b="1">
                <a:solidFill>
                  <a:srgbClr val="0F243E"/>
                </a:solidFill>
              </a:defRPr>
            </a:pPr>
            <a:r>
              <a:t>Branch Coverage (Độ bao phủ nhánh rẽ): 85.6%</a:t>
            </a:r>
          </a:p>
          <a:p>
            <a:pPr>
              <a:spcAft>
                <a:spcPts val="800"/>
              </a:spcAft>
              <a:defRPr sz="1100">
                <a:solidFill>
                  <a:srgbClr val="757575"/>
                </a:solidFill>
              </a:defRPr>
            </a:pPr>
            <a:r>
              <a:t>  (Bao quát toàn bộ các cấu trúc if-else)</a:t>
            </a:r>
          </a:p>
          <a:p>
            <a:pPr>
              <a:defRPr sz="1300" b="1">
                <a:solidFill>
                  <a:srgbClr val="0F243E"/>
                </a:solidFill>
              </a:defRPr>
            </a:pPr>
            <a:r>
              <a:t>Tổng số ca kiểm thử Backend: 31 / 31 ca Passed</a:t>
            </a:r>
          </a:p>
          <a:p>
            <a:pPr>
              <a:spcAft>
                <a:spcPts val="800"/>
              </a:spcAft>
              <a:defRPr sz="1100">
                <a:solidFill>
                  <a:srgbClr val="757575"/>
                </a:solidFill>
              </a:defRPr>
            </a:pPr>
            <a:r>
              <a:t>  (20 Unit Tests + 11 Integration Tests)</a:t>
            </a:r>
          </a:p>
          <a:p>
            <a:pPr>
              <a:defRPr sz="1300" b="1">
                <a:solidFill>
                  <a:srgbClr val="0F243E"/>
                </a:solidFill>
              </a:defRPr>
            </a:pPr>
            <a:r>
              <a:t>Môi trường cơ sở dữ liệu: H2 In-Memory DB</a:t>
            </a:r>
          </a:p>
          <a:p>
            <a:pPr>
              <a:spcAft>
                <a:spcPts val="800"/>
              </a:spcAft>
              <a:defRPr sz="1100">
                <a:solidFill>
                  <a:srgbClr val="757575"/>
                </a:solidFill>
              </a:defRPr>
            </a:pPr>
            <a:r>
              <a:t>  (Chạy siêu tốc trong RAM, cô lập an toàn)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F497D"/>
                </a:solidFill>
              </a:defRPr>
            </a:pPr>
            <a:r>
              <a:t>5. Kiểm Thử Hộp Đen Nghiệp Vụ Cốt Lõi (EP &amp; BVA)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32004"/>
          </a:xfrm>
          <a:prstGeom prst="rect">
            <a:avLst/>
          </a:prstGeom>
          <a:solidFill>
            <a:srgbClr val="00838F"/>
          </a:solidFill>
          <a:ln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henika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28600"/>
            <a:ext cx="1371600" cy="8348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0" y="6446520"/>
            <a:ext cx="1645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78909C"/>
                </a:solidFill>
              </a:defRPr>
            </a:pPr>
            <a:r>
              <a:t>06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4F6F9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F497D"/>
                </a:solidFill>
              </a:defRPr>
            </a:pPr>
            <a:r>
              <a:t>Phân Vùng Tương Đương (EP)</a:t>
            </a:r>
          </a:p>
          <a:p>
            <a:pPr>
              <a:spcAft>
                <a:spcPts val="1200"/>
              </a:spcAft>
              <a:defRPr sz="1200">
                <a:solidFill>
                  <a:srgbClr val="333333"/>
                </a:solidFill>
              </a:defRPr>
            </a:pPr>
            <a:r>
              <a:t>• Miền không hợp lệ 1: Số tiền âm (amount &lt; 0) -&gt; Bị từ chối ngay lập tức.</a:t>
            </a:r>
          </a:p>
          <a:p>
            <a:pPr>
              <a:spcAft>
                <a:spcPts val="1200"/>
              </a:spcAft>
              <a:defRPr sz="1200">
                <a:solidFill>
                  <a:srgbClr val="333333"/>
                </a:solidFill>
              </a:defRPr>
            </a:pPr>
            <a:r>
              <a:t>• Miền biên ranh giới: Số tiền bằng 0 -&gt; Phát hiện lỗi BUG-01 và đã sửa điều kiện.</a:t>
            </a:r>
          </a:p>
          <a:p>
            <a:pPr>
              <a:spcAft>
                <a:spcPts val="1200"/>
              </a:spcAft>
              <a:defRPr sz="1200">
                <a:solidFill>
                  <a:srgbClr val="333333"/>
                </a:solidFill>
              </a:defRPr>
            </a:pPr>
            <a:r>
              <a:t>• Miền hợp lệ: 1 &lt;= amount &lt;= Số dư khả dụng -&gt; Giao dịch chuyển tiền thành công.</a:t>
            </a:r>
          </a:p>
          <a:p>
            <a:pPr>
              <a:spcAft>
                <a:spcPts val="1200"/>
              </a:spcAft>
              <a:defRPr sz="1200">
                <a:solidFill>
                  <a:srgbClr val="333333"/>
                </a:solidFill>
              </a:defRPr>
            </a:pPr>
            <a:r>
              <a:t>• Miền không hợp lệ 2: Số tiền vượt số dư khả dụng -&gt; Bị từ chối do thiếu tiền.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4F6F9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F497D"/>
                </a:solidFill>
              </a:defRPr>
            </a:pPr>
            <a:r>
              <a:t>Phân Tích Giá Trị Biên (BVA 6 Giá Trị)</a:t>
            </a:r>
          </a:p>
          <a:p>
            <a:pPr>
              <a:spcAft>
                <a:spcPts val="1200"/>
              </a:spcAft>
              <a:defRPr sz="1200">
                <a:solidFill>
                  <a:srgbClr val="333333"/>
                </a:solidFill>
              </a:defRPr>
            </a:pPr>
            <a:r>
              <a:t>• Xét 6 giá trị xung quanh biên Min &amp; Max: [min-1, min, min+1, max-1, max, max+1].</a:t>
            </a:r>
          </a:p>
          <a:p>
            <a:pPr>
              <a:spcAft>
                <a:spcPts val="1200"/>
              </a:spcAft>
              <a:defRPr sz="1200">
                <a:solidFill>
                  <a:srgbClr val="333333"/>
                </a:solidFill>
              </a:defRPr>
            </a:pPr>
            <a:r>
              <a:t>• Biên Min (Số tiền = 1 VNĐ): Kiểm thử giao dịch hạn mức nhỏ nhất.</a:t>
            </a:r>
          </a:p>
          <a:p>
            <a:pPr>
              <a:spcAft>
                <a:spcPts val="1200"/>
              </a:spcAft>
              <a:defRPr sz="1200">
                <a:solidFill>
                  <a:srgbClr val="333333"/>
                </a:solidFill>
              </a:defRPr>
            </a:pPr>
            <a:r>
              <a:t>• Biên Max (Số dư = 10.000.000 VNĐ): Kiểm thử giao dịch rút trọn số dư.</a:t>
            </a:r>
          </a:p>
          <a:p>
            <a:pPr>
              <a:spcAft>
                <a:spcPts val="1200"/>
              </a:spcAft>
              <a:defRPr sz="1200">
                <a:solidFill>
                  <a:srgbClr val="333333"/>
                </a:solidFill>
              </a:defRPr>
            </a:pPr>
            <a:r>
              <a:t>• Biên vượt (Số dư + 1 VNĐ): Kiểm thử chặn giao dịch vượt quá 1 đồng.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F497D"/>
                </a:solidFill>
              </a:defRPr>
            </a:pPr>
            <a:r>
              <a:t>6. Kiểm Thử Tranh Chấp Đồng Thời (Pessimistic Locking)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32004"/>
          </a:xfrm>
          <a:prstGeom prst="rect">
            <a:avLst/>
          </a:prstGeom>
          <a:solidFill>
            <a:srgbClr val="00838F"/>
          </a:solidFill>
          <a:ln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henika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28600"/>
            <a:ext cx="1371600" cy="8348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0" y="6446520"/>
            <a:ext cx="1645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78909C"/>
                </a:solidFill>
              </a:defRPr>
            </a:pPr>
            <a:r>
              <a:t>07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4F6F9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E65100"/>
                </a:solidFill>
              </a:defRPr>
            </a:pPr>
            <a:r>
              <a:t>Lỗ Hổng Tranh Chấp Race Condition</a:t>
            </a:r>
          </a:p>
          <a:p>
            <a:pPr>
              <a:spcAft>
                <a:spcPts val="1000"/>
              </a:spcAft>
              <a:defRPr sz="1200">
                <a:solidFill>
                  <a:srgbClr val="333333"/>
                </a:solidFill>
              </a:defRPr>
            </a:pPr>
            <a:r>
              <a:t>• Hiểm họa tài chính: Kẻ gian gửi nhiều lệnh rút tiền trong cùng 1 mili-giây.</a:t>
            </a:r>
          </a:p>
          <a:p>
            <a:pPr>
              <a:spcAft>
                <a:spcPts val="1000"/>
              </a:spcAft>
              <a:defRPr sz="1200">
                <a:solidFill>
                  <a:srgbClr val="333333"/>
                </a:solidFill>
              </a:defRPr>
            </a:pPr>
            <a:r>
              <a:t>• Thiết kế kiểm thử: Tài khoản có 10.000.000 VNĐ.</a:t>
            </a:r>
          </a:p>
          <a:p>
            <a:pPr>
              <a:spcAft>
                <a:spcPts val="1000"/>
              </a:spcAft>
              <a:defRPr sz="1200">
                <a:solidFill>
                  <a:srgbClr val="333333"/>
                </a:solidFill>
              </a:defRPr>
            </a:pPr>
            <a:r>
              <a:t>• Phát lệnh đồng thời: 10 luồng, mỗi luồng rút 2.000.000 VNĐ qua CountDownLatch.</a:t>
            </a:r>
          </a:p>
          <a:p>
            <a:pPr>
              <a:spcAft>
                <a:spcPts val="1000"/>
              </a:spcAft>
              <a:defRPr sz="1200">
                <a:solidFill>
                  <a:srgbClr val="333333"/>
                </a:solidFill>
              </a:defRPr>
            </a:pPr>
            <a:r>
              <a:t>• Rủi ro nếu không có khóa: Cả 10 luồng cùng đọc số dư cũ, gây lỗi rút quá tiền (Double-Spending) thất thoát 10 triệu đồng.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4F6F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2E7D32"/>
                </a:solidFill>
              </a:defRPr>
            </a:pPr>
            <a:r>
              <a:t>Giải Pháp Phòng Thủ: Khóa Bi Quan CSDL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Áp dụng khóa bi quan @Lock(LockModeType.PESSIMISTIC_WRITE).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Sinh câu lệnh SQL: SELECT ... FOR UPDATE khóa hàng dữ liệu.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Cưỡng chế tuần tự hóa các giao dịch rút tiền trong hàng đợi.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KẾT QUẢ THỰC NGHIỆM: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✔ Đúng 5 giao dịch đầu tiên thành công (Trừ đủ 10 triệu).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✔ 5 giao dịch sau bị từ chối do số dư không đủ.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✔ Số dư cuối cùng chính xác tuyệt đối = 0 VNĐ.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F497D"/>
                </a:solidFill>
              </a:defRPr>
            </a:pPr>
            <a:r>
              <a:t>7. Kiểm Thử Tải &amp; Năng Lực Hiệu Năng (Apache JMeter)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32004"/>
          </a:xfrm>
          <a:prstGeom prst="rect">
            <a:avLst/>
          </a:prstGeom>
          <a:solidFill>
            <a:srgbClr val="00838F"/>
          </a:solidFill>
          <a:ln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henika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28600"/>
            <a:ext cx="1371600" cy="8348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0" y="6446520"/>
            <a:ext cx="1645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78909C"/>
                </a:solidFill>
              </a:defRPr>
            </a:pPr>
            <a:r>
              <a:t>08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1097280"/>
          </a:xfrm>
          <a:prstGeom prst="roundRect">
            <a:avLst/>
          </a:prstGeom>
          <a:solidFill>
            <a:srgbClr val="F4F6F9"/>
          </a:solidFill>
          <a:ln w="25400"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497D"/>
                </a:solidFill>
              </a:defRPr>
            </a:pPr>
            <a:r>
              <a:t>TỔNG HỢP HIỆU NĂNG TOÀN HỆ THỐNG: 20.000 GIAO DỊCH DƯỚI TẢI 100 VU</a:t>
            </a:r>
          </a:p>
          <a:p>
            <a:pPr>
              <a:spcBef>
                <a:spcPts val="400"/>
              </a:spcBef>
              <a:defRPr sz="1300" b="1">
                <a:solidFill>
                  <a:srgbClr val="2E7D32"/>
                </a:solidFill>
              </a:defRPr>
            </a:pPr>
            <a:r>
              <a:t>Thời gian phản hồi trung bình: 54.7 ms (Chuẩn &lt; 200 ms)  •  Tỷ lệ lỗi: 0.00%  •  Thông lượng: 290.25 req/s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10728655" cy="777240"/>
          </a:xfrm>
          <a:prstGeom prst="roundRect">
            <a:avLst/>
          </a:prstGeom>
          <a:solidFill>
            <a:srgbClr val="F4F6F9"/>
          </a:solidFill>
          <a:ln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03580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243E"/>
                </a:solidFill>
              </a:defRPr>
            </a:pPr>
            <a:r>
              <a:t>POST /api/v1/auth/login  |  Mẫu: 5.000  |  Độ trễ TB: 65 ms  |  Lỗi: 0.00%  |  Thông lượng: 238.4 req/s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94760"/>
            <a:ext cx="10728655" cy="777240"/>
          </a:xfrm>
          <a:prstGeom prst="roundRect">
            <a:avLst/>
          </a:prstGeom>
          <a:solidFill>
            <a:srgbClr val="F4F6F9"/>
          </a:solidFill>
          <a:ln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90448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243E"/>
                </a:solidFill>
              </a:defRPr>
            </a:pPr>
            <a:r>
              <a:t>GET /api/v1/accounts/my-balance  |  Mẫu: 5.000  |  Độ trễ TB: 24 ms  |  Lỗi: 0.00%  |  Thông lượng: 412.8 req/s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63440"/>
            <a:ext cx="10728655" cy="777240"/>
          </a:xfrm>
          <a:prstGeom prst="roundRect">
            <a:avLst/>
          </a:prstGeom>
          <a:solidFill>
            <a:srgbClr val="F4F6F9"/>
          </a:solidFill>
          <a:ln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77316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243E"/>
                </a:solidFill>
              </a:defRPr>
            </a:pPr>
            <a:r>
              <a:t>POST /api/v1/transfers  |  Mẫu: 5.000  |  Độ trễ TB: 92 ms  |  Lỗi: 0.00%  |  Thông lượng: 184.2 req/s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32120"/>
            <a:ext cx="10728655" cy="777240"/>
          </a:xfrm>
          <a:prstGeom prst="roundRect">
            <a:avLst/>
          </a:prstGeom>
          <a:solidFill>
            <a:srgbClr val="F4F6F9"/>
          </a:solidFill>
          <a:ln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564184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243E"/>
                </a:solidFill>
              </a:defRPr>
            </a:pPr>
            <a:r>
              <a:t>GET /api/v1/transactions/history  |  Mẫu: 5.000  |  Độ trễ TB: 38 ms  |  Lỗi: 0.00%  |  Thông lượng: 325.6 req/s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F497D"/>
                </a:solidFill>
              </a:defRPr>
            </a:pPr>
            <a:r>
              <a:t>8. Tự Động Hóa Kiểm Thử API (Postman / Newman)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32004"/>
          </a:xfrm>
          <a:prstGeom prst="rect">
            <a:avLst/>
          </a:prstGeom>
          <a:solidFill>
            <a:srgbClr val="00838F"/>
          </a:solidFill>
          <a:ln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henika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28600"/>
            <a:ext cx="1371600" cy="8348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0" y="6446520"/>
            <a:ext cx="1645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78909C"/>
                </a:solidFill>
              </a:defRPr>
            </a:pPr>
            <a:r>
              <a:t>09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F497D"/>
                </a:solidFill>
              </a:defRPr>
            </a:pPr>
            <a:r>
              <a:t>Bộ Kịch Bản Tự Động Hóa API Postman</a:t>
            </a:r>
          </a:p>
          <a:p>
            <a:pPr>
              <a:spcAft>
                <a:spcPts val="400"/>
              </a:spcAft>
              <a:defRPr sz="1150">
                <a:solidFill>
                  <a:srgbClr val="333333"/>
                </a:solidFill>
              </a:defRPr>
            </a:pPr>
            <a:r>
              <a:t>Gồm 10 API cốt lõi chia thành 4 phân nhóm chức năng.</a:t>
            </a:r>
          </a:p>
          <a:p>
            <a:pPr>
              <a:spcAft>
                <a:spcPts val="400"/>
              </a:spcAft>
              <a:defRPr sz="1150">
                <a:solidFill>
                  <a:srgbClr val="333333"/>
                </a:solidFill>
              </a:defRPr>
            </a:pPr>
            <a:r>
              <a:t>17 điều kiện Assertions kiểm tra Status Code, JWT, JSON Schema.</a:t>
            </a:r>
          </a:p>
          <a:p>
            <a:pPr>
              <a:spcAft>
                <a:spcPts val="400"/>
              </a:spcAft>
              <a:defRPr sz="1150">
                <a:solidFill>
                  <a:srgbClr val="333333"/>
                </a:solidFill>
              </a:defRPr>
            </a:pPr>
            <a:r>
              <a:t>KẾT QUẢ THỰC NGHIỆM:</a:t>
            </a:r>
          </a:p>
          <a:p>
            <a:pPr>
              <a:spcAft>
                <a:spcPts val="400"/>
              </a:spcAft>
              <a:defRPr sz="1150">
                <a:solidFill>
                  <a:srgbClr val="333333"/>
                </a:solidFill>
              </a:defRPr>
            </a:pPr>
            <a:r>
              <a:t>  ✔ 10/10 Requests Passed tuyệt đối 100%.</a:t>
            </a:r>
          </a:p>
          <a:p>
            <a:pPr>
              <a:spcAft>
                <a:spcPts val="400"/>
              </a:spcAft>
              <a:defRPr sz="1150">
                <a:solidFill>
                  <a:srgbClr val="333333"/>
                </a:solidFill>
              </a:defRPr>
            </a:pPr>
            <a:r>
              <a:t>  ✔ 17/17 Assertions Passed (0 thất bại).</a:t>
            </a:r>
          </a:p>
          <a:p>
            <a:pPr>
              <a:spcAft>
                <a:spcPts val="400"/>
              </a:spcAft>
              <a:defRPr sz="1150">
                <a:solidFill>
                  <a:srgbClr val="333333"/>
                </a:solidFill>
              </a:defRPr>
            </a:pPr>
            <a:r>
              <a:t>  ✔ Thời gian phản hồi trung bình: 38 ms.</a:t>
            </a:r>
          </a:p>
          <a:p>
            <a:pPr>
              <a:spcAft>
                <a:spcPts val="400"/>
              </a:spcAft>
              <a:defRPr sz="1150">
                <a:solidFill>
                  <a:srgbClr val="333333"/>
                </a:solidFill>
              </a:defRPr>
            </a:pPr>
            <a:r>
              <a:t>  ✔ Thời gian chạy toàn bộ bộ test: 1s 348ms.</a:t>
            </a:r>
          </a:p>
          <a:p>
            <a:pPr>
              <a:spcAft>
                <a:spcPts val="400"/>
              </a:spcAft>
              <a:defRPr sz="1150">
                <a:solidFill>
                  <a:srgbClr val="333333"/>
                </a:solidFill>
              </a:defRPr>
            </a:pPr>
            <a:r>
              <a:t>Chạy tự động không cần cài đặt qua Newman CLI trên CI/CD:</a:t>
            </a:r>
          </a:p>
          <a:p>
            <a:pPr>
              <a:spcAft>
                <a:spcPts val="400"/>
              </a:spcAft>
              <a:defRPr sz="1150">
                <a:solidFill>
                  <a:srgbClr val="333333"/>
                </a:solidFill>
              </a:defRPr>
            </a:pPr>
            <a:r>
              <a:t>cmd /c 'npx newman run MiniBank_API_Automation.postman_collection.json'</a:t>
            </a:r>
          </a:p>
        </p:txBody>
      </p:sp>
      <p:pic>
        <p:nvPicPr>
          <p:cNvPr id="7" name="Picture 6" descr="hinh_3_4b_postman_ru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212080" cy="280963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henika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28600"/>
            <a:ext cx="1371600" cy="8348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0" y="6446520"/>
            <a:ext cx="1645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B0BEC5"/>
                </a:solidFill>
              </a:defRPr>
            </a:pPr>
            <a:r>
              <a:t>10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FEB3B"/>
                </a:solidFill>
              </a:defRPr>
            </a:pPr>
            <a:r>
              <a:t>🚀 PHẦN TRÌNH DIỄN THỰC NGHIỆM 1</a:t>
            </a:r>
          </a:p>
          <a:p>
            <a:pPr>
              <a:spcAft>
                <a:spcPts val="2000"/>
              </a:spcAft>
              <a:defRPr sz="3200" b="1">
                <a:solidFill>
                  <a:srgbClr val="FFFFFF"/>
                </a:solidFill>
              </a:defRPr>
            </a:pPr>
            <a:r>
              <a:t>LIVE DEMO: KIỂM THỬ TỰ ĐỘNG HÓA API</a:t>
            </a:r>
            <a:br/>
            <a:r>
              <a:t>POSTMAN RUNNER &amp; NEWMAN CLI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Nội dung thực hiện:</a:t>
            </a:r>
            <a:br/>
            <a:r>
              <a:t>1. Chạy tự động Collection Runner trên Postman Desktop (10 APIs, 17/17 Assertions Passed 100%, 38ms).</a:t>
            </a:r>
            <a:br/>
            <a:r>
              <a:t>2. Gửi request TC_API_ADM_01: Admin Login kiểm tra xác thực &amp; cấp JWT Bearer Token (200 OK).</a:t>
            </a:r>
            <a:br/>
            <a:r>
              <a:t>3. Gửi request TC_API_ADM_02: Get Dashboard Stats truy xuất dữ liệu KPI tài chính JSON (200 OK).</a:t>
            </a:r>
            <a:br/>
            <a:r>
              <a:t>4. Gửi request TC_API_SEC_01: Protected API without Token chặn truy cập trái phép (401 Unauthorized).</a:t>
            </a:r>
            <a:br/>
            <a:r>
              <a:t>(Bổ trợ: Chạy tự động hóa CI/CD siêu tốc bằng công cụ Newman CLI trên Terminal).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F497D"/>
                </a:solidFill>
              </a:defRPr>
            </a:pPr>
            <a:r>
              <a:t>9. Kiểm Thử Giao Diện Người Dùng (Selenium WebDriver)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32004"/>
          </a:xfrm>
          <a:prstGeom prst="rect">
            <a:avLst/>
          </a:prstGeom>
          <a:solidFill>
            <a:srgbClr val="00838F"/>
          </a:solidFill>
          <a:ln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henika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28600"/>
            <a:ext cx="1371600" cy="8348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0" y="6446520"/>
            <a:ext cx="1645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78909C"/>
                </a:solidFill>
              </a:defRPr>
            </a:pPr>
            <a:r>
              <a:t>11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243E"/>
                </a:solidFill>
              </a:defRPr>
            </a:pPr>
            <a:r>
              <a:t>✔ TC_PAGE_01: Đăng nhập Quản trị (/login) - Kiểm tra form, input, submit button (2.1s)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21408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243E"/>
                </a:solidFill>
              </a:defRPr>
            </a:pPr>
            <a:r>
              <a:t>✔ TC_PAGE_02: Bắt lỗi đăng nhập (/login) - Gửi sai mật khẩu, kiểm tra báo lỗi (2.4s)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88336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243E"/>
                </a:solidFill>
              </a:defRPr>
            </a:pPr>
            <a:r>
              <a:t>✔ TC_PAGE_03: Chuyển hướng Dashboard (/) - Cấp token, chuyển trang sau đăng nhập (3.8s)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55263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243E"/>
                </a:solidFill>
              </a:defRPr>
            </a:pPr>
            <a:r>
              <a:t>✔ TC_PAGE_04: Dashboard KPI (/) - Kiểm tra render 4 thẻ số liệu tài chính (2.2s)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22191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243E"/>
                </a:solidFill>
              </a:defRPr>
            </a:pPr>
            <a:r>
              <a:t>✔ TC_PAGE_05: Duyệt khoản vay (/requests/loan-approval) - Bảng hồ sơ vay PENDING, nút duyệt (2.3s)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243E"/>
                </a:solidFill>
              </a:defRPr>
            </a:pPr>
            <a:r>
              <a:t>✔ TC_PAGE_06: Duyệt sổ tiết kiệm (/requests/saving-approval) - Bảng sổ chờ giải ngân và duyệt (2.2s)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56048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243E"/>
                </a:solidFill>
              </a:defRPr>
            </a:pPr>
            <a:r>
              <a:t>✔ TC_PAGE_07: Quản lý khách hàng (/customers) - Danh sách khách hàng, tìm kiếm SĐT (2.3s)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522976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243E"/>
                </a:solidFill>
              </a:defRPr>
            </a:pPr>
            <a:r>
              <a:t>✔ TC_PAGE_08: Thẩm định eKYC (/customers/kyc) - Đối soát CMND/CCCD và ảnh chân dung (2.2s)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55448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243E"/>
                </a:solidFill>
              </a:defRPr>
            </a:pPr>
            <a:r>
              <a:t>✔ TC_PAGE_09: Hồ sơ chứng từ (/customers/documents) - Lưu trữ và tải về hợp đồng tín dụng (2.1s)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121408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243E"/>
                </a:solidFill>
              </a:defRPr>
            </a:pPr>
            <a:r>
              <a:t>✔ TC_PAGE_10: Sản phẩm vay vốn (/financial-products/loans) - Cấu hình gói vay, hạn mức, lãi suất (2.2s)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688336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243E"/>
                </a:solidFill>
              </a:defRPr>
            </a:pPr>
            <a:r>
              <a:t>✔ TC_PAGE_11: Sản phẩm tiết kiệm (/financial-products/savings) - Biểu lãi suất các kỳ hạn 1-24 tháng (2.1s)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255263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243E"/>
                </a:solidFill>
              </a:defRPr>
            </a:pPr>
            <a:r>
              <a:t>✔ TC_PAGE_12: Duyệt giao dịch lớn (/transactions/large-approval) - Kiểm soát kép Dual-Control AML (2.3s)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822191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243E"/>
                </a:solidFill>
              </a:defRPr>
            </a:pPr>
            <a:r>
              <a:t>✔ TC_PAGE_13: Quản lý cán bộ (/staff) - Danh sách nhân sự, phân công chi nhánh (2.2s)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38912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243E"/>
                </a:solidFill>
              </a:defRPr>
            </a:pPr>
            <a:r>
              <a:t>✔ TC_PAGE_14: Phân quyền RBAC (/system/roles) - Ma trận quyền ADMIN, TELLER, COMPLIANCE (2.2s)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956048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243E"/>
                </a:solidFill>
              </a:defRPr>
            </a:pPr>
            <a:r>
              <a:t>✔ TC_PAGE_15: Nhật ký kiểm toán (/system/audit) - Audit Trail ghi nhận IP, thời gian (2.3s)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5522976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243E"/>
                </a:solidFill>
              </a:defRPr>
            </a:pPr>
            <a:r>
              <a:t>✔ TC_PAGE_16: Đổi mật khẩu (/change-password) - Chính sách mật khẩu phức tạp ngân hàng (2.1s)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6172200"/>
            <a:ext cx="10728655" cy="4114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621792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FFFFFF"/>
                </a:solidFill>
              </a:defRPr>
            </a:pPr>
            <a:r>
              <a:t>KẾT QUẢ THỰC THI TỰ ĐỘNG: 16/16 TRANG PASSED TRONG 72.95 GIÂY (PASS RATE 100%)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F497D"/>
                </a:solidFill>
              </a:defRPr>
            </a:pPr>
            <a:r>
              <a:t>10. Giao Diện Trực Quan Các Phân Hệ Cốt Lõi (Admin Portal)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32004"/>
          </a:xfrm>
          <a:prstGeom prst="rect">
            <a:avLst/>
          </a:prstGeom>
          <a:solidFill>
            <a:srgbClr val="00838F"/>
          </a:solidFill>
          <a:ln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henika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28600"/>
            <a:ext cx="1371600" cy="8348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0" y="6446520"/>
            <a:ext cx="1645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78909C"/>
                </a:solidFill>
              </a:defRPr>
            </a:pPr>
            <a:r>
              <a:t>12 / 18</a:t>
            </a:r>
          </a:p>
        </p:txBody>
      </p:sp>
      <p:pic>
        <p:nvPicPr>
          <p:cNvPr id="6" name="Picture 5" descr="hinh_3_9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5212080" cy="2543079"/>
          </a:xfrm>
          <a:prstGeom prst="rect">
            <a:avLst/>
          </a:prstGeom>
        </p:spPr>
      </p:pic>
      <p:pic>
        <p:nvPicPr>
          <p:cNvPr id="7" name="Picture 6" descr="hinh_3_10_loan_approv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645920"/>
            <a:ext cx="5212080" cy="25430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75488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497D"/>
                </a:solidFill>
              </a:defRPr>
            </a:pPr>
            <a:r>
              <a:t>Hình 3.9: Bảng điều khiển quản trị trung tâm (Dashboard /)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475488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497D"/>
                </a:solidFill>
              </a:defRPr>
            </a:pPr>
            <a:r>
              <a:t>Hình 3.10: Phê duyệt hồ sơ vay vốn (/requests/loan-approval)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henika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28600"/>
            <a:ext cx="1371600" cy="8348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0" y="6446520"/>
            <a:ext cx="1645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B0BEC5"/>
                </a:solidFill>
              </a:defRPr>
            </a:pPr>
            <a:r>
              <a:t>13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FEB3B"/>
                </a:solidFill>
              </a:defRPr>
            </a:pPr>
            <a:r>
              <a:t>🚀 PHẦN TRÌNH DIỄN THỰC NGHIỆM 2</a:t>
            </a:r>
          </a:p>
          <a:p>
            <a:pPr>
              <a:spcAft>
                <a:spcPts val="2000"/>
              </a:spcAft>
              <a:defRPr sz="3200" b="1">
                <a:solidFill>
                  <a:srgbClr val="FFFFFF"/>
                </a:solidFill>
              </a:defRPr>
            </a:pPr>
            <a:r>
              <a:t>LIVE DEMO: KIỂM THỬ TỰ ĐỘNG HÓA GIAO DIỆN</a:t>
            </a:r>
            <a:br/>
            <a:r>
              <a:t>SELENIUM WEBDRIVER &amp; SELENIUM IDE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Nội dung thực hiện:</a:t>
            </a:r>
            <a:br/>
            <a:r>
              <a:t>1. Thực thi kịch bản Python tự động kiểm thử 16 trang giao diện Admin Portal.</a:t>
            </a:r>
            <a:br/>
            <a:r>
              <a:t>2. Mở tiện ích Selenium IDE Runner (.side) quan sát Record &amp; Playback trực quan.</a:t>
            </a:r>
            <a:br/>
            <a:r>
              <a:t>3. Xác minh tự động điền form, kiểm tra thẻ DOM và điều hướng an toàn.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F497D"/>
                </a:solidFill>
              </a:defRPr>
            </a:pPr>
            <a:r>
              <a:t>11. Phân Bổ 57 Ca Kiểm Thử &amp; Kết Quả Tổng Hợp (Phần IV)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32004"/>
          </a:xfrm>
          <a:prstGeom prst="rect">
            <a:avLst/>
          </a:prstGeom>
          <a:solidFill>
            <a:srgbClr val="00838F"/>
          </a:solidFill>
          <a:ln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henika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28600"/>
            <a:ext cx="1371600" cy="8348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0" y="6446520"/>
            <a:ext cx="1645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78909C"/>
                </a:solidFill>
              </a:defRPr>
            </a:pPr>
            <a:r>
              <a:t>14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212080" cy="4709160"/>
          </a:xfrm>
          <a:prstGeom prst="roundRect">
            <a:avLst/>
          </a:prstGeom>
          <a:solidFill>
            <a:srgbClr val="F4F6F9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F497D"/>
                </a:solidFill>
              </a:defRPr>
            </a:pPr>
            <a:r>
              <a:t>Bảng Thống Kê Phân Bổ Ca Kiểm Thử</a:t>
            </a:r>
          </a:p>
          <a:p>
            <a:pPr>
              <a:spcAft>
                <a:spcPts val="500"/>
              </a:spcAft>
              <a:defRPr sz="1200" b="0">
                <a:solidFill>
                  <a:srgbClr val="883344"/>
                </a:solidFill>
              </a:defRPr>
            </a:pPr>
            <a:r>
              <a:t>• Unit Tests (Spring Boot): 20 ca (35.09%)</a:t>
            </a:r>
          </a:p>
          <a:p>
            <a:pPr>
              <a:spcAft>
                <a:spcPts val="500"/>
              </a:spcAft>
              <a:defRPr sz="1200" b="0">
                <a:solidFill>
                  <a:srgbClr val="1F497D"/>
                </a:solidFill>
              </a:defRPr>
            </a:pPr>
            <a:r>
              <a:t>• Integration Tests (MockMvc): 11 ca (19.30%)</a:t>
            </a:r>
          </a:p>
          <a:p>
            <a:pPr>
              <a:spcAft>
                <a:spcPts val="500"/>
              </a:spcAft>
              <a:defRPr sz="1200" b="0">
                <a:solidFill>
                  <a:srgbClr val="2E7D32"/>
                </a:solidFill>
              </a:defRPr>
            </a:pPr>
            <a:r>
              <a:t>• Postman API Automation: 10 ca (17.54%)</a:t>
            </a:r>
          </a:p>
          <a:p>
            <a:pPr>
              <a:spcAft>
                <a:spcPts val="500"/>
              </a:spcAft>
              <a:defRPr sz="1200" b="0">
                <a:solidFill>
                  <a:srgbClr val="D35400"/>
                </a:solidFill>
              </a:defRPr>
            </a:pPr>
            <a:r>
              <a:t>• Selenium UI Full Pages: 16 ca (28.07%)</a:t>
            </a:r>
          </a:p>
          <a:p>
            <a:pPr>
              <a:spcAft>
                <a:spcPts val="500"/>
              </a:spcAft>
              <a:defRPr sz="1200" b="1">
                <a:solidFill>
                  <a:srgbClr val="2E7D32"/>
                </a:solidFill>
              </a:defRPr>
            </a:pPr>
            <a:r>
              <a:t>• TỔNG HỢP TOÀN HỆ THỐNG: 57 ca (100.0%)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900">
                <a:solidFill>
                  <a:srgbClr val="CFD8DC"/>
                </a:solidFill>
              </a:defRPr>
            </a:pPr>
            <a:r>
              <a:t>────────────────────────────────────────</a:t>
            </a:r>
          </a:p>
          <a:p>
            <a:pPr>
              <a:defRPr sz="1300" b="1">
                <a:solidFill>
                  <a:srgbClr val="1F497D"/>
                </a:solidFill>
              </a:defRPr>
            </a:pPr>
            <a:r>
              <a:t>CHỈ SỐ CHẤT LƯỢNG ĐẠT ĐƯỢC: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  <a:r>
              <a:t>✔ Tỷ lệ thành công: 100% Passed (57/57 ca vượt qua)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  <a:r>
              <a:t>✔ Độ bao phủ mã nguồn JaCoCo: 90.3% Line / 85.6% Branch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  <a:r>
              <a:t>✔ Hiệu năng chịu tải JMeter: 54.7 ms / Tỷ lệ lỗi: 0.00%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  <a:r>
              <a:t>✔ Cơ chế bảo mật: Khóa bi quan chống Double-Spending 100%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AD1589C-B8F3-0C57-E46E-EFB94B424B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03" y="1864423"/>
            <a:ext cx="5762625" cy="30194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F497D"/>
                </a:solidFill>
              </a:defRPr>
            </a:pPr>
            <a:r>
              <a:t>12. Nhật Ký Phát Hiện &amp; Xử Lý Lỗi Phần Mềm (Defect Log)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32004"/>
          </a:xfrm>
          <a:prstGeom prst="rect">
            <a:avLst/>
          </a:prstGeom>
          <a:solidFill>
            <a:srgbClr val="00838F"/>
          </a:solidFill>
          <a:ln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henika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28600"/>
            <a:ext cx="1371600" cy="8348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0" y="6446520"/>
            <a:ext cx="1645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78909C"/>
                </a:solidFill>
              </a:defRPr>
            </a:pPr>
            <a:r>
              <a:t>15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68580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19072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43E"/>
                </a:solidFill>
              </a:defRPr>
            </a:pPr>
            <a:r>
              <a:t>[BUG-01] (CRITICAL) Chuyển tiền: Cho phép chuyển số tiền bằng 0  ➔  Giải pháp: Cập nhật điều kiện if (amount &lt;= 0) [TRẠNG THÁI: CLOSED ✔]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10728655" cy="68580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496312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43E"/>
                </a:solidFill>
              </a:defRPr>
            </a:pPr>
            <a:r>
              <a:t>[BUG-02] (MAJOR) Tín dụng: Cho phép nộp đơn xin vay số tiền âm  ➔  Giải pháp: Bổ sung tiền kiểm tra loanAmount &lt;= 0 [TRẠNG THÁI: CLOSED ✔]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10728655" cy="68580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273552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43E"/>
                </a:solidFill>
              </a:defRPr>
            </a:pPr>
            <a:r>
              <a:t>[BUG-03] (CRITICAL) Tín dụng: Duyệt vay nhưng không cộng tiền giải ngân  ➔  Giải pháp: Bổ sung cộng số dư tài khoản người vay [TRẠNG THÁI: CLOSED ✔]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10728655" cy="68580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050791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43E"/>
                </a:solidFill>
              </a:defRPr>
            </a:pPr>
            <a:r>
              <a:t>[BUG-04] (BLOCKER) Tài khoản: Double-Spending khi rút tiền đồng thời  ➔  Giải pháp: Áp dụng Khóa bi quan PESSIMISTIC_WRITE [TRẠNG THÁI: CLOSED ✔]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54880"/>
            <a:ext cx="10728655" cy="68580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828032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43E"/>
                </a:solidFill>
              </a:defRPr>
            </a:pPr>
            <a:r>
              <a:t>[BUG-05] (HIGH) Giao diện: Trang Audit Log cho phép truy cập nặc danh  ➔  Giải pháp: Tích hợp Client-side Route Guard [TRẠNG THÁI: CLOSED ✔]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532120"/>
            <a:ext cx="10728655" cy="68580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5605272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43E"/>
                </a:solidFill>
              </a:defRPr>
            </a:pPr>
            <a:r>
              <a:t>[BUG-06] (MEDIUM) Kết nối: Fallback port 8081 gây lỗi kết nối API  ➔  Giải pháp: Chuẩn hóa trỏ về cổng backend 8080 [TRẠNG THÁI: CLOSED ✔]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F497D"/>
                </a:solidFill>
              </a:defRPr>
            </a:pPr>
            <a:r>
              <a:t>13. Đánh Giá Chất Lượng Theo Chuẩn ISO/IEC 25010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32004"/>
          </a:xfrm>
          <a:prstGeom prst="rect">
            <a:avLst/>
          </a:prstGeom>
          <a:solidFill>
            <a:srgbClr val="00838F"/>
          </a:solidFill>
          <a:ln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henika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28600"/>
            <a:ext cx="1371600" cy="8348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0" y="6446520"/>
            <a:ext cx="1645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78909C"/>
                </a:solidFill>
              </a:defRPr>
            </a:pPr>
            <a:r>
              <a:t>16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59436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00784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43E"/>
                </a:solidFill>
              </a:defRPr>
            </a:pPr>
            <a:r>
              <a:t>1. Tính Phù Hợp Chức Năng:  ĐIỂM ĐÁNH GIÁ: 5.0 / 5.0  |  57/57 ca test tự động thành công (Pass Rate 100%)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04288"/>
            <a:ext cx="10728655" cy="59436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359152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43E"/>
                </a:solidFill>
              </a:defRPr>
            </a:pPr>
            <a:r>
              <a:t>2. Hiệu Quả Hoạt Động:  ĐIỂM ĐÁNH GIÁ: 4.8 / 5.0  |  Thời gian đáp ứng TB 54.7 ms dưới tải 100 người dùng 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62656"/>
            <a:ext cx="10728655" cy="59436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43E"/>
                </a:solidFill>
              </a:defRPr>
            </a:pPr>
            <a:r>
              <a:t>3. Tính Tương Thích:  ĐIỂM ĐÁNH GIÁ: 4.7 / 5.0  |  Hiển thị chuẩn mực trên Chrome, Edge, Firefox, responsive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21024"/>
            <a:ext cx="10728655" cy="59436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675888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43E"/>
                </a:solidFill>
              </a:defRPr>
            </a:pPr>
            <a:r>
              <a:t>4. Tính Khả Dụng:  ĐIỂM ĐÁNH GIÁ: 4.8 / 5.0  |  Giao diện tối giản hiện đại, cán bộ làm quen dưới 5 phút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79392"/>
            <a:ext cx="10728655" cy="59436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334256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43E"/>
                </a:solidFill>
              </a:defRPr>
            </a:pPr>
            <a:r>
              <a:t>5. Độ Tin Cậy:  ĐIỂM ĐÁNH GIÁ: 5.0 / 5.0  |  Khóa bi quan ngăn 100% Double-Spending, tỷ lệ lỗi 0.00%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37759"/>
            <a:ext cx="10728655" cy="59436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992623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43E"/>
                </a:solidFill>
              </a:defRPr>
            </a:pPr>
            <a:r>
              <a:t>6. Tính Bảo Mật:  ĐIỂM ĐÁNH GIÁ: 4.9 / 5.0  |  Mật khẩu mã hóa BCrypt, JWT Bearer Token, Route Guard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596128"/>
            <a:ext cx="10728655" cy="59436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5650992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43E"/>
                </a:solidFill>
              </a:defRPr>
            </a:pPr>
            <a:r>
              <a:t>7. Khả Năng Bảo Trì:  ĐIỂM ĐÁNH GIÁ: 4.9 / 5.0  |  Mã nguồn phân tầng chuẩn mực, JaCoCo Coverage đạt 90.3%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F497D"/>
                </a:solidFill>
              </a:defRPr>
            </a:pPr>
            <a:r>
              <a:t>14. Tổng Kết Thành Quả &amp; Định Hướng Phát Triển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32004"/>
          </a:xfrm>
          <a:prstGeom prst="rect">
            <a:avLst/>
          </a:prstGeom>
          <a:solidFill>
            <a:srgbClr val="00838F"/>
          </a:solidFill>
          <a:ln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henika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28600"/>
            <a:ext cx="1371600" cy="8348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0" y="6446520"/>
            <a:ext cx="1645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78909C"/>
                </a:solidFill>
              </a:defRPr>
            </a:pPr>
            <a:r>
              <a:t>17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4F6F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2E7D32"/>
                </a:solidFill>
              </a:defRPr>
            </a:pPr>
            <a:r>
              <a:t>Thành Quả Đạt Được</a:t>
            </a:r>
          </a:p>
          <a:p>
            <a:pPr>
              <a:spcAft>
                <a:spcPts val="1000"/>
              </a:spcAft>
              <a:defRPr sz="1250">
                <a:solidFill>
                  <a:srgbClr val="333333"/>
                </a:solidFill>
              </a:defRPr>
            </a:pPr>
            <a:r>
              <a:t>✔ Hoàn thành 100% mục tiêu đề tài theo chuẩn Đại học Phenikaa.</a:t>
            </a:r>
          </a:p>
          <a:p>
            <a:pPr>
              <a:spcAft>
                <a:spcPts val="1000"/>
              </a:spcAft>
              <a:defRPr sz="1250">
                <a:solidFill>
                  <a:srgbClr val="333333"/>
                </a:solidFill>
              </a:defRPr>
            </a:pPr>
            <a:r>
              <a:t>✔ Thiết lập thành công 57 ca kiểm thử tự động đạt tỷ lệ 100% Passed.</a:t>
            </a:r>
          </a:p>
          <a:p>
            <a:pPr>
              <a:spcAft>
                <a:spcPts val="1000"/>
              </a:spcAft>
              <a:defRPr sz="1250">
                <a:solidFill>
                  <a:srgbClr val="333333"/>
                </a:solidFill>
              </a:defRPr>
            </a:pPr>
            <a:r>
              <a:t>✔ Độ bao phủ mã nguồn JaCoCo đạt 90.3% dòng lệnh và 85.6% nhánh rẽ.</a:t>
            </a:r>
          </a:p>
          <a:p>
            <a:pPr>
              <a:spcAft>
                <a:spcPts val="1000"/>
              </a:spcAft>
              <a:defRPr sz="1250">
                <a:solidFill>
                  <a:srgbClr val="333333"/>
                </a:solidFill>
              </a:defRPr>
            </a:pPr>
            <a:r>
              <a:t>✔ Hiệu năng chịu tải đạt tốc độ 54.7 ms với tỷ lệ lỗi giao dịch 0.00%.</a:t>
            </a:r>
          </a:p>
          <a:p>
            <a:pPr>
              <a:spcAft>
                <a:spcPts val="1000"/>
              </a:spcAft>
              <a:defRPr sz="1250">
                <a:solidFill>
                  <a:srgbClr val="333333"/>
                </a:solidFill>
              </a:defRPr>
            </a:pPr>
            <a:r>
              <a:t>✔ Xử lý dứt điểm 6 lỗi quan trọng, đóng 100% các defect phát hiện.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4F6F9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1F497D"/>
                </a:solidFill>
              </a:defRPr>
            </a:pPr>
            <a:r>
              <a:t>Định Hướng Phát Triển Tiếp Theo</a:t>
            </a:r>
          </a:p>
          <a:p>
            <a:pPr>
              <a:spcAft>
                <a:spcPts val="1000"/>
              </a:spcAft>
              <a:defRPr sz="1250">
                <a:solidFill>
                  <a:srgbClr val="333333"/>
                </a:solidFill>
              </a:defRPr>
            </a:pPr>
            <a:r>
              <a:t>➔ Tích hợp đường ống CI/CD tự động (GitHub Actions / Jenkins).</a:t>
            </a:r>
          </a:p>
          <a:p>
            <a:pPr>
              <a:spcAft>
                <a:spcPts val="1000"/>
              </a:spcAft>
              <a:defRPr sz="1250">
                <a:solidFill>
                  <a:srgbClr val="333333"/>
                </a:solidFill>
              </a:defRPr>
            </a:pPr>
            <a:r>
              <a:t>➔ Mở rộng kịch bản kiểm thử API nâng cao cho toàn bộ luồng nghiệp vụ.</a:t>
            </a:r>
          </a:p>
          <a:p>
            <a:pPr>
              <a:spcAft>
                <a:spcPts val="1000"/>
              </a:spcAft>
              <a:defRPr sz="1250">
                <a:solidFill>
                  <a:srgbClr val="333333"/>
                </a:solidFill>
              </a:defRPr>
            </a:pPr>
            <a:r>
              <a:t>➔ Nâng cấp xác thực hai yếu tố (2FA OTP) &amp; sinh trắc học eKYC nâng cao.</a:t>
            </a:r>
          </a:p>
          <a:p>
            <a:pPr>
              <a:spcAft>
                <a:spcPts val="1000"/>
              </a:spcAft>
              <a:defRPr sz="1250">
                <a:solidFill>
                  <a:srgbClr val="333333"/>
                </a:solidFill>
              </a:defRPr>
            </a:pPr>
            <a:r>
              <a:t>➔ Triển khai Redis Cache phân tán đáp ứng hàng triệu người dùng.</a:t>
            </a:r>
          </a:p>
          <a:p>
            <a:pPr>
              <a:spcAft>
                <a:spcPts val="1000"/>
              </a:spcAft>
              <a:defRPr sz="1250">
                <a:solidFill>
                  <a:srgbClr val="333333"/>
                </a:solidFill>
              </a:defRPr>
            </a:pPr>
            <a:r>
              <a:t>➔ Kiểm thử giao diện chéo trình duyệt qua Selenium Grid.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3130</Words>
  <Application>Microsoft Office PowerPoint</Application>
  <PresentationFormat>Widescreen</PresentationFormat>
  <Paragraphs>194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Nguyen Van Thanh</cp:lastModifiedBy>
  <cp:revision>2</cp:revision>
  <dcterms:created xsi:type="dcterms:W3CDTF">2013-01-27T09:14:16Z</dcterms:created>
  <dcterms:modified xsi:type="dcterms:W3CDTF">2026-10-30T14:29:54Z</dcterms:modified>
  <cp:category/>
</cp:coreProperties>
</file>